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E9F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2286000"/>
          </a:xfrm>
          <a:prstGeom prst="roundRect">
            <a:avLst/>
          </a:prstGeom>
          <a:solidFill>
            <a:srgbClr val="064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难得读书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41732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4B8A6"/>
                </a:solidFill>
                <a:latin typeface="Microsoft YaHei"/>
              </a:rPr>
              <a:t>选一本书，附身角色，感受风雪，照见自己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06463C"/>
                </a:solidFill>
                <a:latin typeface="Microsoft YaHei"/>
              </a:rPr>
              <a:t>一句话定位：</a:t>
            </a:r>
            <a:r>
              <a:rPr sz="1800" b="1">
                <a:solidFill>
                  <a:srgbClr val="0B6B57"/>
                </a:solidFill>
                <a:latin typeface="Microsoft YaHei"/>
              </a:rPr>
              <a:t>我们让书成为一面照见自己的镜子。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37560"/>
            <a:ext cx="8778240" cy="713232"/>
          </a:xfrm>
          <a:prstGeom prst="roundRect">
            <a:avLst/>
          </a:prstGeom>
          <a:solidFill>
            <a:srgbClr val="F3FBF8"/>
          </a:solidFill>
          <a:ln w="12700">
            <a:solidFill>
              <a:srgbClr val="9CB5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337560"/>
            <a:ext cx="128016" cy="713232"/>
          </a:xfrm>
          <a:prstGeom prst="roundRect">
            <a:avLst/>
          </a:prstGeom>
          <a:solidFill>
            <a:srgbClr val="9CB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392424"/>
            <a:ext cx="8412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6463C"/>
                </a:solidFill>
                <a:latin typeface="Microsoft YaHei"/>
              </a:rPr>
              <a:t>初级 · 摘要 / 问答　</a:t>
            </a:r>
            <a:r>
              <a:rPr sz="1300" b="0">
                <a:solidFill>
                  <a:srgbClr val="3A4A47"/>
                </a:solidFill>
                <a:latin typeface="Microsoft YaHei"/>
              </a:rPr>
              <a:t>帮你知道书讲了什么（赛道明确不鼓励）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178808"/>
            <a:ext cx="8778240" cy="713232"/>
          </a:xfrm>
          <a:prstGeom prst="roundRect">
            <a:avLst/>
          </a:prstGeom>
          <a:solidFill>
            <a:srgbClr val="F3FBF8"/>
          </a:solidFill>
          <a:ln w="12700">
            <a:solidFill>
              <a:srgbClr val="4F9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4178808"/>
            <a:ext cx="128016" cy="713232"/>
          </a:xfrm>
          <a:prstGeom prst="roundRect">
            <a:avLst/>
          </a:prstGeom>
          <a:solidFill>
            <a:srgbClr val="4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233672"/>
            <a:ext cx="8412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6463C"/>
                </a:solidFill>
                <a:latin typeface="Microsoft YaHei"/>
              </a:rPr>
              <a:t>中级 · 角色扮演 / 进入剧情　</a:t>
            </a:r>
            <a:r>
              <a:rPr sz="1300" b="0">
                <a:solidFill>
                  <a:srgbClr val="3A4A47"/>
                </a:solidFill>
                <a:latin typeface="Microsoft YaHei"/>
              </a:rPr>
              <a:t>帮你理解人物为什么这么做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20056"/>
            <a:ext cx="8778240" cy="713232"/>
          </a:xfrm>
          <a:prstGeom prst="roundRect">
            <a:avLst/>
          </a:prstGeom>
          <a:solidFill>
            <a:srgbClr val="F3FBF8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5020056"/>
            <a:ext cx="128016" cy="713232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074920"/>
            <a:ext cx="8412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6463C"/>
                </a:solidFill>
                <a:latin typeface="Microsoft YaHei"/>
              </a:rPr>
              <a:t>高级（我们在这）· 用现代价值观拆解古人抉择　</a:t>
            </a:r>
            <a:r>
              <a:rPr sz="1300" b="0">
                <a:solidFill>
                  <a:srgbClr val="3A4A47"/>
                </a:solidFill>
                <a:latin typeface="Microsoft YaHei"/>
              </a:rPr>
              <a:t>让书成为照见自己的镜子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989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B57"/>
                </a:solidFill>
                <a:latin typeface="Microsoft YaHei"/>
              </a:rPr>
              <a:t>我们做的不是“读一本书”，而是让书对你产生仅靠阅读得不到的、活的意义。</a:t>
            </a:r>
          </a:p>
        </p:txBody>
      </p:sp>
      <p:pic>
        <p:nvPicPr>
          <p:cNvPr id="17" name="Picture 16" descr="mybook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3383280"/>
            <a:ext cx="1554480" cy="15544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75520" y="4983480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6463C"/>
                </a:solidFill>
                <a:latin typeface="Microsoft YaHei"/>
              </a:rPr>
              <a:t>扫码即玩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0B6B57"/>
                </a:solidFill>
                <a:latin typeface="Microsoft YaHei"/>
              </a:rPr>
              <a:t>mybook-3eb25c73.eazo.dev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35508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B6B57"/>
                </a:solidFill>
                <a:latin typeface="Microsoft YaHei"/>
              </a:rPr>
              <a:t>01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256032" cy="6858000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06463C"/>
                </a:solidFill>
                <a:latin typeface="Microsoft YaHei"/>
              </a:rPr>
              <a:t>谁在“想读经典，却读不进去”？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34440"/>
            <a:ext cx="1280160" cy="73152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0B6B57"/>
                </a:solidFill>
                <a:latin typeface="Microsoft YaHei"/>
              </a:rPr>
              <a:t>我们的用户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</a:rPr>
              <a:t>• </a:t>
            </a:r>
            <a:r>
              <a:rPr sz="1500" b="0">
                <a:solidFill>
                  <a:srgbClr val="3A4A47"/>
                </a:solidFill>
                <a:latin typeface="Microsoft YaHei"/>
              </a:rPr>
              <a:t>25–35 岁、有一定阅历的年轻人：想读经典、买了书，却总在第几页卡住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</a:rPr>
              <a:t>• </a:t>
            </a:r>
            <a:r>
              <a:rPr sz="1500" b="0">
                <a:solidFill>
                  <a:srgbClr val="3A4A47"/>
                </a:solidFill>
                <a:latin typeface="Microsoft YaHei"/>
              </a:rPr>
              <a:t>在生活 / 职场里正面临真实抉择、渴望“照见自己”、想更懂自己的人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27248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</a:rPr>
              <a:t>• </a:t>
            </a:r>
            <a:r>
              <a:rPr sz="1500" b="0">
                <a:solidFill>
                  <a:srgbClr val="3A4A47"/>
                </a:solidFill>
                <a:latin typeface="Microsoft YaHei"/>
              </a:rPr>
              <a:t>反感说教式知识付费，想要有参与感、有共鸣的深度内容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7647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0B6B57"/>
                </a:solidFill>
                <a:latin typeface="Microsoft YaHei"/>
              </a:rPr>
              <a:t>他们的痛点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79392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</a:rPr>
              <a:t>• </a:t>
            </a:r>
            <a:r>
              <a:rPr sz="1500" b="0">
                <a:solidFill>
                  <a:srgbClr val="3A4A47"/>
                </a:solidFill>
                <a:latin typeface="Microsoft YaHei"/>
              </a:rPr>
              <a:t>名著=“该读但读不下去”：距离感强、说教味重、缺乏参与感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91456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</a:rPr>
              <a:t>• </a:t>
            </a:r>
            <a:r>
              <a:rPr sz="1500" b="0">
                <a:solidFill>
                  <a:srgbClr val="3A4A47"/>
                </a:solidFill>
                <a:latin typeface="Microsoft YaHei"/>
              </a:rPr>
              <a:t>传统方式（讲解、速读、读后感）本质是“别人嚼过喂给你”，你始终是旁观者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806440"/>
            <a:ext cx="10972800" cy="685800"/>
          </a:xfrm>
          <a:prstGeom prst="roundRect">
            <a:avLst/>
          </a:prstGeom>
          <a:solidFill>
            <a:srgbClr val="E9F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870448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6463C"/>
                </a:solidFill>
                <a:latin typeface="Microsoft YaHei"/>
              </a:rPr>
              <a:t>名著离我们太远，因为我们从来没“成为”过书里的人。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35508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B6B57"/>
                </a:solidFill>
                <a:latin typeface="Microsoft YaHei"/>
              </a:rP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256032" cy="6858000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06463C"/>
                </a:solidFill>
                <a:latin typeface="Microsoft YaHei"/>
              </a:rPr>
              <a:t>让你“附身”角色，替他做每一次艰难抉择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34440"/>
            <a:ext cx="1280160" cy="73152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</a:rPr>
              <a:t>• </a:t>
            </a:r>
            <a:r>
              <a:rPr sz="1500" b="0">
                <a:solidFill>
                  <a:srgbClr val="3A4A47"/>
                </a:solidFill>
                <a:latin typeface="Microsoft YaHei"/>
              </a:rPr>
              <a:t>选一本书 → 附身一个角色（林冲、祥子、诸葛亮、安娜……）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12264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</a:rPr>
              <a:t>• </a:t>
            </a:r>
            <a:r>
              <a:rPr sz="1500" b="0">
                <a:solidFill>
                  <a:srgbClr val="3A4A47"/>
                </a:solidFill>
                <a:latin typeface="Microsoft YaHei"/>
              </a:rPr>
              <a:t>在忠于原著的关键情节里，由你亲自做出每一次两难抉择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24328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</a:rPr>
              <a:t>• </a:t>
            </a:r>
            <a:r>
              <a:rPr sz="1500" b="0">
                <a:solidFill>
                  <a:srgbClr val="3A4A47"/>
                </a:solidFill>
                <a:latin typeface="Microsoft YaHei"/>
              </a:rPr>
              <a:t>情节锚点忠于原著（隆中对→托孤→北伐的顺序不会乱），但内心与选择由你长出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36392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</a:rPr>
              <a:t>• </a:t>
            </a:r>
            <a:r>
              <a:rPr sz="1500" b="0">
                <a:solidFill>
                  <a:srgbClr val="3A4A47"/>
                </a:solidFill>
                <a:latin typeface="Microsoft YaHei"/>
              </a:rPr>
              <a:t>走到结尾，你的每一次选择汇成一份“照见你自己”的报告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806440"/>
            <a:ext cx="10972800" cy="685800"/>
          </a:xfrm>
          <a:prstGeom prst="roundRect">
            <a:avLst/>
          </a:prstGeom>
          <a:solidFill>
            <a:srgbClr val="E9F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870448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6463C"/>
                </a:solidFill>
                <a:latin typeface="Microsoft YaHei"/>
              </a:rPr>
              <a:t>核心机制：原著的骨架 + 你的血肉 = 一次借角色照见自己的旅程。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35508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B6B57"/>
                </a:solidFill>
                <a:latin typeface="Microsoft YaHei"/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256032" cy="6858000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06463C"/>
                </a:solidFill>
                <a:latin typeface="Microsoft YaHei"/>
              </a:rPr>
              <a:t>不是娱乐游戏，是一面镜子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34440"/>
            <a:ext cx="1280160" cy="73152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</a:rPr>
              <a:t>• </a:t>
            </a:r>
            <a:r>
              <a:rPr sz="1500" b="0">
                <a:solidFill>
                  <a:srgbClr val="3A4A47"/>
                </a:solidFill>
                <a:latin typeface="Microsoft YaHei"/>
              </a:rPr>
              <a:t>原著诚实底线：只认原著小说，拒绝影视 / 游戏改编污染（不会冒出“紫霞仙子”）；不认识的书宁可诚实说“暂无法可靠还原”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12264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</a:rPr>
              <a:t>• </a:t>
            </a:r>
            <a:r>
              <a:rPr sz="1500" b="0">
                <a:solidFill>
                  <a:srgbClr val="3A4A47"/>
                </a:solidFill>
                <a:latin typeface="Microsoft YaHei"/>
              </a:rPr>
              <a:t>真实的自我暴露：全程不剧透“在测什么”，你才会做出真实选择，结局才照见真实的你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24328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</a:rPr>
              <a:t>• </a:t>
            </a:r>
            <a:r>
              <a:rPr sz="1500" b="0">
                <a:solidFill>
                  <a:srgbClr val="3A4A47"/>
                </a:solidFill>
                <a:latin typeface="Microsoft YaHei"/>
              </a:rPr>
              <a:t>意义感驱动留存：趣味性之外，给用户“更看清自己”的深层动机——区别于快消游戏的护城河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806440"/>
            <a:ext cx="10972800" cy="685800"/>
          </a:xfrm>
          <a:prstGeom prst="roundRect">
            <a:avLst/>
          </a:prstGeom>
          <a:solidFill>
            <a:srgbClr val="E9F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70448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6463C"/>
                </a:solidFill>
                <a:latin typeface="Microsoft YaHei"/>
              </a:rPr>
              <a:t>别人做的是“内容消费”，我们做的是“自我觉察”。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35508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B6B57"/>
                </a:solidFill>
                <a:latin typeface="Microsoft YaHei"/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256032" cy="6858000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06463C"/>
                </a:solidFill>
                <a:latin typeface="Microsoft YaHei"/>
              </a:rPr>
              <a:t>一个已经跑通的完整体验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34440"/>
            <a:ext cx="1280160" cy="73152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</a:rPr>
              <a:t>• </a:t>
            </a:r>
            <a:r>
              <a:rPr sz="1500" b="0">
                <a:solidFill>
                  <a:srgbClr val="3A4A47"/>
                </a:solidFill>
                <a:latin typeface="Microsoft YaHei"/>
              </a:rPr>
              <a:t>覆盖数十部中外经典，每本多个可选角色，支持自填角色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12264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</a:rPr>
              <a:t>• </a:t>
            </a:r>
            <a:r>
              <a:rPr sz="1500" b="0">
                <a:solidFill>
                  <a:srgbClr val="3A4A47"/>
                </a:solidFill>
                <a:latin typeface="Microsoft YaHei"/>
              </a:rPr>
              <a:t>因果连贯的剧情推演，拒绝凭空转折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24328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</a:rPr>
              <a:t>• </a:t>
            </a:r>
            <a:r>
              <a:rPr sz="1500" b="0">
                <a:solidFill>
                  <a:srgbClr val="3A4A47"/>
                </a:solidFill>
                <a:latin typeface="Microsoft YaHei"/>
              </a:rPr>
              <a:t>“极端选择付出代价但不中断”，人人都能走到属于自己的结局报告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36392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</a:rPr>
              <a:t>• </a:t>
            </a:r>
            <a:r>
              <a:rPr sz="1500" b="0">
                <a:solidFill>
                  <a:srgbClr val="3A4A47"/>
                </a:solidFill>
                <a:latin typeface="Microsoft YaHei"/>
              </a:rPr>
              <a:t>结局镜像报告：把角色一生的命题，轻轻折射回你自己的现实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48456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</a:rPr>
              <a:t>• </a:t>
            </a:r>
            <a:r>
              <a:rPr sz="1500" b="0">
                <a:solidFill>
                  <a:srgbClr val="3A4A47"/>
                </a:solidFill>
                <a:latin typeface="Microsoft YaHei"/>
              </a:rPr>
              <a:t>移动端优先，扫码即玩，可分享故事与结果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806440"/>
            <a:ext cx="10972800" cy="685800"/>
          </a:xfrm>
          <a:prstGeom prst="roundRect">
            <a:avLst/>
          </a:prstGeom>
          <a:solidFill>
            <a:srgbClr val="E9F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870448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6463C"/>
                </a:solidFill>
                <a:latin typeface="Microsoft YaHei"/>
              </a:rPr>
              <a:t>建议配图：手机端截图 —— 选书页 / 剧情页 / 结果报告页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35508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B6B57"/>
                </a:solidFill>
                <a:latin typeface="Microsoft YaHei"/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64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Microsoft YaHei"/>
              </a:rPr>
              <a:t>难得读书，难得照见自己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" y="1828800"/>
            <a:ext cx="1463040" cy="822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14B8A6"/>
                </a:solidFill>
                <a:latin typeface="Microsoft YaHei"/>
              </a:rPr>
              <a:t>• </a:t>
            </a:r>
            <a:r>
              <a:rPr sz="1600" b="0">
                <a:solidFill>
                  <a:srgbClr val="E9FCF5"/>
                </a:solidFill>
                <a:latin typeface="Microsoft YaHei"/>
              </a:rPr>
              <a:t>愿景：让每一本经典，都成为一次照见自己的机会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14B8A6"/>
                </a:solidFill>
                <a:latin typeface="Microsoft YaHei"/>
              </a:rPr>
              <a:t>• </a:t>
            </a:r>
            <a:r>
              <a:rPr sz="1600" b="0">
                <a:solidFill>
                  <a:srgbClr val="E9FCF5"/>
                </a:solidFill>
                <a:latin typeface="Microsoft YaHei"/>
              </a:rPr>
              <a:t>让“读不进去的名著”，变成“停不下来的自己”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7772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800" b="1">
                <a:solidFill>
                  <a:srgbClr val="14B8A6"/>
                </a:solidFill>
                <a:latin typeface="Microsoft YaHei"/>
              </a:rPr>
              <a:t>现在就扫码，附身一个角色，走一遍——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800" b="1">
                <a:solidFill>
                  <a:srgbClr val="14B8A6"/>
                </a:solidFill>
                <a:latin typeface="Microsoft YaHei"/>
              </a:rPr>
              <a:t>看看最后照见的那个人，是不是你。</a:t>
            </a:r>
          </a:p>
        </p:txBody>
      </p:sp>
      <p:pic>
        <p:nvPicPr>
          <p:cNvPr id="7" name="Picture 6" descr="mybook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2468880"/>
            <a:ext cx="2011680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0" y="452628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mybook-3eb25c73.eazo.dev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