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E9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286000"/>
          </a:xfrm>
          <a:prstGeom prst="roundRect">
            <a:avLst/>
          </a:prstGeom>
          <a:solidFill>
            <a:srgbClr val="06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难得读书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Microsoft YaHei"/>
              </a:rPr>
              <a:t>选一本书，附身角色，感受风雪，照见自己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6463C"/>
                </a:solidFill>
                <a:latin typeface="Microsoft YaHei"/>
              </a:rPr>
              <a:t>一句话定位：</a:t>
            </a:r>
            <a:r>
              <a:rPr sz="1800" b="1">
                <a:solidFill>
                  <a:srgbClr val="0B6B57"/>
                </a:solidFill>
                <a:latin typeface="Microsoft YaHei"/>
              </a:rPr>
              <a:t>我们让书成为一面照见自己的镜子。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8778240" cy="713232"/>
          </a:xfrm>
          <a:prstGeom prst="roundRect">
            <a:avLst/>
          </a:prstGeom>
          <a:solidFill>
            <a:srgbClr val="F3FBF8"/>
          </a:solidFill>
          <a:ln w="12700">
            <a:solidFill>
              <a:srgbClr val="9CB5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128016" cy="713232"/>
          </a:xfrm>
          <a:prstGeom prst="roundRect">
            <a:avLst/>
          </a:prstGeom>
          <a:solidFill>
            <a:srgbClr val="9CB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92424"/>
            <a:ext cx="8412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初级 · 摘要 / 问答　</a:t>
            </a:r>
            <a:r>
              <a:rPr sz="1300" b="0">
                <a:solidFill>
                  <a:srgbClr val="3A4A47"/>
                </a:solidFill>
                <a:latin typeface="Microsoft YaHei"/>
              </a:rPr>
              <a:t>帮你知道书讲了什么（赛道明确不鼓励）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78808"/>
            <a:ext cx="8778240" cy="713232"/>
          </a:xfrm>
          <a:prstGeom prst="roundRect">
            <a:avLst/>
          </a:prstGeom>
          <a:solidFill>
            <a:srgbClr val="F3FBF8"/>
          </a:solidFill>
          <a:ln w="12700">
            <a:solidFill>
              <a:srgbClr val="4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178808"/>
            <a:ext cx="128016" cy="713232"/>
          </a:xfrm>
          <a:prstGeom prst="roundRect">
            <a:avLst/>
          </a:prstGeom>
          <a:solidFill>
            <a:srgbClr val="4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33672"/>
            <a:ext cx="8412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中级 · 角色扮演 / 进入剧情　</a:t>
            </a:r>
            <a:r>
              <a:rPr sz="1300" b="0">
                <a:solidFill>
                  <a:srgbClr val="3A4A47"/>
                </a:solidFill>
                <a:latin typeface="Microsoft YaHei"/>
              </a:rPr>
              <a:t>帮你理解人物为什么这么做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0056"/>
            <a:ext cx="8778240" cy="713232"/>
          </a:xfrm>
          <a:prstGeom prst="roundRect">
            <a:avLst/>
          </a:prstGeom>
          <a:solidFill>
            <a:srgbClr val="F3FBF8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20056"/>
            <a:ext cx="128016" cy="7132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8412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高级（我们在这）· 用现代价值观拆解古人抉择　</a:t>
            </a:r>
            <a:r>
              <a:rPr sz="1300" b="0">
                <a:solidFill>
                  <a:srgbClr val="3A4A47"/>
                </a:solidFill>
                <a:latin typeface="Microsoft YaHei"/>
              </a:rPr>
              <a:t>让书成为照见自己的镜子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B6B57"/>
                </a:solidFill>
                <a:latin typeface="Microsoft YaHei"/>
              </a:rPr>
              <a:t>我们做的不是“读一本书”，而是让书对你产生仅靠阅读得不到的、活的意义。</a:t>
            </a:r>
          </a:p>
        </p:txBody>
      </p:sp>
      <p:pic>
        <p:nvPicPr>
          <p:cNvPr id="17" name="Picture 16" descr="mybook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383280"/>
            <a:ext cx="155448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0" y="498348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6463C"/>
                </a:solidFill>
                <a:latin typeface="Microsoft YaHei"/>
              </a:rPr>
              <a:t>扫码即玩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850" b="0">
                <a:solidFill>
                  <a:srgbClr val="0B6B57"/>
                </a:solidFill>
                <a:latin typeface="Microsoft YaHei"/>
              </a:rPr>
              <a:t>mybook-3eb25c73.eazo.dev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B6B57"/>
                </a:solidFill>
                <a:latin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6463C"/>
                </a:solidFill>
                <a:latin typeface="Microsoft YaHei"/>
              </a:rPr>
              <a:t>谁在“想读经典，却读不进去”？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1280160" cy="7315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6B57"/>
                </a:solidFill>
                <a:latin typeface="Microsoft YaHei"/>
              </a:rPr>
              <a:t>我们的用户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25–35 岁、有一定阅历的年轻人：想读经典、买了书，却总在第几页卡住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在生活 / 职场里正面临真实抉择、渴望“照见自己”、想更懂自己的人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反感说教式知识付费，想要有参与感、有共鸣的深度内容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6B57"/>
                </a:solidFill>
                <a:latin typeface="Microsoft YaHei"/>
              </a:rPr>
              <a:t>他们的痛点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名著=“该读但读不下去”：距离感强、说教味重、缺乏参与感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传统方式（讲解、速读、读后感）本质是“别人嚼过喂给你”，你始终是旁观者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06440"/>
            <a:ext cx="10972800" cy="685800"/>
          </a:xfrm>
          <a:prstGeom prst="roundRect">
            <a:avLst/>
          </a:prstGeom>
          <a:solidFill>
            <a:srgbClr val="E9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87044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名著离我们太远，因为我们从来没“成为”过书里的人。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B6B57"/>
                </a:solidFill>
                <a:latin typeface="Microsoft YaHe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6463C"/>
                </a:solidFill>
                <a:latin typeface="Microsoft YaHei"/>
              </a:rPr>
              <a:t>让你“附身”角色，替他做每一次艰难抉择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1280160" cy="7315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选一本书 → 附身一个角色（林冲、祥子、诸葛亮、安娜……）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1226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在忠于原著的关键情节里，由你亲自做出每一次两难抉择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情节锚点忠于原著（隆中对→托孤→北伐的顺序不会乱），但内心与选择由你长出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363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走到结尾，你的每一次选择汇成一份“照见你自己”的报告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972800" cy="685800"/>
          </a:xfrm>
          <a:prstGeom prst="roundRect">
            <a:avLst/>
          </a:prstGeom>
          <a:solidFill>
            <a:srgbClr val="E9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87044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核心机制：原著的骨架 + 你的血肉 = 一次借角色照见自己的旅程。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B6B57"/>
                </a:solidFill>
                <a:latin typeface="Microsoft YaHe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6463C"/>
                </a:solidFill>
                <a:latin typeface="Microsoft YaHei"/>
              </a:rPr>
              <a:t>不是娱乐游戏，是一面镜子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1280160" cy="7315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原著诚实底线：只认原著小说，拒绝影视 / 游戏改编污染（不会冒出“紫霞仙子”）；不认识的书宁可诚实说“暂无法可靠还原”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1226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真实的自我暴露：全程不剧透“在测什么”，你才会做出真实选择，结局才照见真实的你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意义感驱动留存：趣味性之外，给用户“更看清自己”的深层动机——区别于快消游戏的护城河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972800" cy="685800"/>
          </a:xfrm>
          <a:prstGeom prst="roundRect">
            <a:avLst/>
          </a:prstGeom>
          <a:solidFill>
            <a:srgbClr val="E9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7044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别人做的是“内容消费”，我们做的是“自我觉察”。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B6B57"/>
                </a:solidFill>
                <a:latin typeface="Microsoft YaHe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6463C"/>
                </a:solidFill>
                <a:latin typeface="Microsoft YaHei"/>
              </a:rPr>
              <a:t>从“照见自己”，到“互相看见”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1280160" cy="7315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6B57"/>
                </a:solidFill>
                <a:latin typeface="Microsoft YaHei"/>
              </a:rPr>
              <a:t>两个人各走一遍 · 照见我们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情侣 / 朋友 / 同事读同一本书、附身同一个角色，并排看两份价值观画像：我们哪里像、哪里不一样、为什么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5234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6B57"/>
                </a:solidFill>
                <a:latin typeface="Microsoft YaHei"/>
              </a:rPr>
              <a:t>一群人共读一本 · 互相看见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5526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读书会 / 班级 / 家庭各走一遍同一角色，聚在一起看：谁的选择最不一样，那个“异类”背后是什么价值观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04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6B57"/>
                </a:solidFill>
                <a:latin typeface="Microsoft YaHei"/>
              </a:rPr>
              <a:t>一条成长曲线 · 看见自己的变化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0740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A4A47"/>
                </a:solidFill>
                <a:latin typeface="Microsoft YaHei"/>
              </a:rPr>
              <a:t>多次游玩沉淀成一条价值观轨迹——半年后回看，“我，变了没有？”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972800" cy="685800"/>
          </a:xfrm>
          <a:prstGeom prst="roundRect">
            <a:avLst/>
          </a:prstGeom>
          <a:solidFill>
            <a:srgbClr val="E9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7044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463C"/>
                </a:solidFill>
                <a:latin typeface="Microsoft YaHei"/>
              </a:rPr>
              <a:t>从“读一本书”，到“一群人借一本书，照见彼此”——书，成了人与人之间那面共同的镜子。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B6B57"/>
                </a:solidFill>
                <a:latin typeface="Microsoft YaHe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64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难得读书，难得照见自己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28800"/>
            <a:ext cx="1463040" cy="822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E9FCF5"/>
                </a:solidFill>
                <a:latin typeface="Microsoft YaHei"/>
              </a:rPr>
              <a:t>愿景：让每一本经典，都成为一次照见自己的机会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14B8A6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E9FCF5"/>
                </a:solidFill>
                <a:latin typeface="Microsoft YaHei"/>
              </a:rPr>
              <a:t>让“读不进去的名著”，变成“停不下来的自己”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7772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4B8A6"/>
                </a:solidFill>
                <a:latin typeface="Microsoft YaHei"/>
              </a:rPr>
              <a:t>现在就扫码，附身一个角色，走一遍——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4B8A6"/>
                </a:solidFill>
                <a:latin typeface="Microsoft YaHei"/>
              </a:rPr>
              <a:t>看看最后照见的那个人，是不是你。</a:t>
            </a:r>
          </a:p>
        </p:txBody>
      </p:sp>
      <p:pic>
        <p:nvPicPr>
          <p:cNvPr id="7" name="Picture 6" descr="mybook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468880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45262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mybook-3eb25c73.eazo.dev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